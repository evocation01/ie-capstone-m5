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12192000"/>
  <p:notesSz cx="6858000" cy="9144000"/>
  <p:embeddedFontLst>
    <p:embeddedFont>
      <p:font typeface="Lato"/>
      <p:regular r:id="rId29"/>
      <p:bold r:id="rId30"/>
      <p:italic r:id="rId31"/>
      <p:boldItalic r:id="rId32"/>
    </p:embeddedFont>
    <p:embeddedFont>
      <p:font typeface="Poppins"/>
      <p:regular r:id="rId33"/>
      <p:bold r:id="rId34"/>
      <p:italic r:id="rId35"/>
      <p:boldItalic r:id="rId36"/>
    </p:embeddedFont>
    <p:embeddedFont>
      <p:font typeface="Merriweather"/>
      <p:regular r:id="rId37"/>
      <p:bold r:id="rId38"/>
      <p:italic r:id="rId39"/>
      <p:boldItalic r:id="rId40"/>
    </p:embeddedFont>
    <p:embeddedFont>
      <p:font typeface="DM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FC669A-3369-4993-A902-9FE97FF51267}">
  <a:tblStyle styleId="{78FC669A-3369-4993-A902-9FE97FF5126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erriweather-boldItalic.fntdata"/><Relationship Id="rId20" Type="http://schemas.openxmlformats.org/officeDocument/2006/relationships/slide" Target="slides/slide14.xml"/><Relationship Id="rId42" Type="http://schemas.openxmlformats.org/officeDocument/2006/relationships/font" Target="fonts/DMSans-bold.fntdata"/><Relationship Id="rId41" Type="http://schemas.openxmlformats.org/officeDocument/2006/relationships/font" Target="fonts/DMSans-regular.fntdata"/><Relationship Id="rId22" Type="http://schemas.openxmlformats.org/officeDocument/2006/relationships/slide" Target="slides/slide16.xml"/><Relationship Id="rId44" Type="http://schemas.openxmlformats.org/officeDocument/2006/relationships/font" Target="fonts/DMSans-boldItalic.fntdata"/><Relationship Id="rId21" Type="http://schemas.openxmlformats.org/officeDocument/2006/relationships/slide" Target="slides/slide15.xml"/><Relationship Id="rId43" Type="http://schemas.openxmlformats.org/officeDocument/2006/relationships/font" Target="fonts/DMSans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5.xml"/><Relationship Id="rId33" Type="http://schemas.openxmlformats.org/officeDocument/2006/relationships/font" Target="fonts/Poppins-regular.fntdata"/><Relationship Id="rId10" Type="http://schemas.openxmlformats.org/officeDocument/2006/relationships/slide" Target="slides/slide4.xml"/><Relationship Id="rId32" Type="http://schemas.openxmlformats.org/officeDocument/2006/relationships/font" Target="fonts/Lato-boldItalic.fntdata"/><Relationship Id="rId13" Type="http://schemas.openxmlformats.org/officeDocument/2006/relationships/slide" Target="slides/slide7.xml"/><Relationship Id="rId35" Type="http://schemas.openxmlformats.org/officeDocument/2006/relationships/font" Target="fonts/Poppins-italic.fntdata"/><Relationship Id="rId12" Type="http://schemas.openxmlformats.org/officeDocument/2006/relationships/slide" Target="slides/slide6.xml"/><Relationship Id="rId34" Type="http://schemas.openxmlformats.org/officeDocument/2006/relationships/font" Target="fonts/Poppins-bold.fntdata"/><Relationship Id="rId15" Type="http://schemas.openxmlformats.org/officeDocument/2006/relationships/slide" Target="slides/slide9.xml"/><Relationship Id="rId37" Type="http://schemas.openxmlformats.org/officeDocument/2006/relationships/font" Target="fonts/Merriweather-regular.fntdata"/><Relationship Id="rId14" Type="http://schemas.openxmlformats.org/officeDocument/2006/relationships/slide" Target="slides/slide8.xml"/><Relationship Id="rId36" Type="http://schemas.openxmlformats.org/officeDocument/2006/relationships/font" Target="fonts/Poppins-boldItalic.fntdata"/><Relationship Id="rId17" Type="http://schemas.openxmlformats.org/officeDocument/2006/relationships/slide" Target="slides/slide11.xml"/><Relationship Id="rId39" Type="http://schemas.openxmlformats.org/officeDocument/2006/relationships/font" Target="fonts/Merriweather-italic.fntdata"/><Relationship Id="rId16" Type="http://schemas.openxmlformats.org/officeDocument/2006/relationships/slide" Target="slides/slide10.xml"/><Relationship Id="rId38" Type="http://schemas.openxmlformats.org/officeDocument/2006/relationships/font" Target="fonts/Merriweather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4fb9ac2b5_12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b4fb9ac2b5_12_3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4fb9ac2b5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b4fb9ac2b5_2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4fb9ac2b5_1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b4fb9ac2b5_12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4fb9ac2b5_1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b4fb9ac2b5_12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b4fb9ac2b5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b4fb9ac2b5_2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b4fb9ac2b5_2_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b4fb9ac2b5_2_6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4fb9ac2b5_12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b4fb9ac2b5_12_3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4fb9ac2b5_1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b4fb9ac2b5_12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b4fb9ac2b5_2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b4fb9ac2b5_2_4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b4fb9ac2b5_12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b4fb9ac2b5_12_3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I">
  <p:cSld name="TITLE_AND_BODY_2_1_1_1_2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507456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431800" lvl="0" marL="457200"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83" name="Google Shape;83;p13"/>
          <p:cNvSpPr/>
          <p:nvPr>
            <p:ph idx="2" type="pic"/>
          </p:nvPr>
        </p:nvSpPr>
        <p:spPr>
          <a:xfrm>
            <a:off x="5545950" y="1519300"/>
            <a:ext cx="3090600" cy="30906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4.png"/><Relationship Id="rId5" Type="http://schemas.openxmlformats.org/officeDocument/2006/relationships/image" Target="../media/image17.png"/><Relationship Id="rId6" Type="http://schemas.openxmlformats.org/officeDocument/2006/relationships/image" Target="../media/image21.png"/><Relationship Id="rId7" Type="http://schemas.openxmlformats.org/officeDocument/2006/relationships/image" Target="../media/image31.png"/><Relationship Id="rId8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0.png"/><Relationship Id="rId5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6.png"/><Relationship Id="rId5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Relationship Id="rId4" Type="http://schemas.openxmlformats.org/officeDocument/2006/relationships/image" Target="../media/image19.png"/><Relationship Id="rId5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5" Type="http://schemas.openxmlformats.org/officeDocument/2006/relationships/image" Target="../media/image30.png"/><Relationship Id="rId6" Type="http://schemas.openxmlformats.org/officeDocument/2006/relationships/image" Target="../media/image29.png"/><Relationship Id="rId7" Type="http://schemas.openxmlformats.org/officeDocument/2006/relationships/image" Target="../media/image32.png"/><Relationship Id="rId8" Type="http://schemas.openxmlformats.org/officeDocument/2006/relationships/image" Target="../media/image3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35.png"/><Relationship Id="rId5" Type="http://schemas.openxmlformats.org/officeDocument/2006/relationships/image" Target="../media/image39.png"/><Relationship Id="rId6" Type="http://schemas.openxmlformats.org/officeDocument/2006/relationships/image" Target="../media/image5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3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4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43.png"/><Relationship Id="rId5" Type="http://schemas.openxmlformats.org/officeDocument/2006/relationships/image" Target="../media/image3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45.png"/><Relationship Id="rId5" Type="http://schemas.openxmlformats.org/officeDocument/2006/relationships/image" Target="../media/image4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28.png"/><Relationship Id="rId5" Type="http://schemas.openxmlformats.org/officeDocument/2006/relationships/image" Target="../media/image30.png"/><Relationship Id="rId6" Type="http://schemas.openxmlformats.org/officeDocument/2006/relationships/image" Target="../media/image32.png"/><Relationship Id="rId7" Type="http://schemas.openxmlformats.org/officeDocument/2006/relationships/image" Target="../media/image37.png"/><Relationship Id="rId8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ng"/><Relationship Id="rId4" Type="http://schemas.openxmlformats.org/officeDocument/2006/relationships/image" Target="../media/image48.png"/><Relationship Id="rId5" Type="http://schemas.openxmlformats.org/officeDocument/2006/relationships/image" Target="../media/image46.png"/><Relationship Id="rId6" Type="http://schemas.openxmlformats.org/officeDocument/2006/relationships/image" Target="../media/image4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53.png"/><Relationship Id="rId5" Type="http://schemas.openxmlformats.org/officeDocument/2006/relationships/image" Target="../media/image52.png"/><Relationship Id="rId6" Type="http://schemas.openxmlformats.org/officeDocument/2006/relationships/image" Target="../media/image55.png"/><Relationship Id="rId7" Type="http://schemas.openxmlformats.org/officeDocument/2006/relationships/image" Target="../media/image51.png"/><Relationship Id="rId8" Type="http://schemas.openxmlformats.org/officeDocument/2006/relationships/image" Target="../media/image5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8" name="Google Shape;8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4850"/>
            <a:ext cx="12192000" cy="67284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13900" y="548650"/>
            <a:ext cx="2319175" cy="15461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1095375" y="2332880"/>
            <a:ext cx="10001400" cy="23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A </a:t>
            </a:r>
            <a:r>
              <a:rPr b="1" i="0" lang="en-US" sz="48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Comparative Analysis of Forecasting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for Supply Chain Optimization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1333500" y="4826380"/>
            <a:ext cx="952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Industrial Engineering Capstone Project | IE 4197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1333500" y="5585667"/>
            <a:ext cx="952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Hakan İspir • Boran Turan • Deniz Yağmur Adaş • Ali Kahya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Supervisor: Prof. Dr. Serol BULKAN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571500" y="903535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Table of Contents</a:t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571500" y="1494085"/>
            <a:ext cx="11049000" cy="192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571500" y="1619025"/>
            <a:ext cx="8826900" cy="5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Definition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 Objectives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Characteristics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Supply Chain Challenges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Benchmark Results &amp; Recommendations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Sustainability &amp; ESG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Roadmap to IE4198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Sources &amp; References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6"/>
          <p:cNvSpPr/>
          <p:nvPr/>
        </p:nvSpPr>
        <p:spPr>
          <a:xfrm>
            <a:off x="5715000" y="2305050"/>
            <a:ext cx="762000" cy="477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295275" y="2638425"/>
            <a:ext cx="116016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Definition</a:t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571500" y="3790950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Mitigating the Bullwhip Effect in Modern Retail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37643"/>
            <a:ext cx="3492549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37643"/>
            <a:ext cx="3492549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37643"/>
            <a:ext cx="3492549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 txBox="1"/>
          <p:nvPr/>
        </p:nvSpPr>
        <p:spPr>
          <a:xfrm>
            <a:off x="571500" y="903535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Research Objectives</a:t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571500" y="1494085"/>
            <a:ext cx="110490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784223" y="3537793"/>
            <a:ext cx="306710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Accuracy Benchmarking</a:t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857250" y="4414093"/>
            <a:ext cx="29210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Compare Classical (ARIMA/HW) vs. ML (LightGBM) vs. Deep Learning (LSTM) performance.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4562523" y="3537793"/>
            <a:ext cx="30671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Scalability</a:t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4635549" y="4071193"/>
            <a:ext cx="29210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Implement a "Dual-Track" pipeline using Polars to process 59M rows of Walmart data.</a:t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8340822" y="3537793"/>
            <a:ext cx="30671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Financial Impact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8413849" y="4071193"/>
            <a:ext cx="29210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Quantify "Value of Information" through Total Logistics Cost (Holding + Stockout) simulation.</a:t>
            </a:r>
            <a:endParaRPr/>
          </a:p>
        </p:txBody>
      </p:sp>
      <p:pic>
        <p:nvPicPr>
          <p:cNvPr descr="image.png" id="126" name="Google Shape;12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9100" y="272816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72816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45699" y="2728168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8"/>
          <p:cNvSpPr txBox="1"/>
          <p:nvPr/>
        </p:nvSpPr>
        <p:spPr>
          <a:xfrm>
            <a:off x="571500" y="456604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 Characteristics: M5 Challenge</a:t>
            </a:r>
            <a:endParaRPr/>
          </a:p>
        </p:txBody>
      </p:sp>
      <p:sp>
        <p:nvSpPr>
          <p:cNvPr id="135" name="Google Shape;135;p18"/>
          <p:cNvSpPr/>
          <p:nvPr/>
        </p:nvSpPr>
        <p:spPr>
          <a:xfrm>
            <a:off x="571500" y="1047154"/>
            <a:ext cx="110490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620225" y="1507204"/>
            <a:ext cx="5334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Scale: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30,490 SKUs across 10 Walmart stores.</a:t>
            </a: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571500" y="2028229"/>
            <a:ext cx="5334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Volume: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1,913 days of history; ~58 Million melted rows.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620225" y="2549254"/>
            <a:ext cx="5334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Complexity: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High seasonality and hierarchical dependencies.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620225" y="3404575"/>
            <a:ext cx="5915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Intermittency: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Massive zero-inflation (sparse sales patterns).</a:t>
            </a:r>
            <a:endParaRPr/>
          </a:p>
        </p:txBody>
      </p:sp>
      <p:pic>
        <p:nvPicPr>
          <p:cNvPr descr="image.png" id="140" name="Google Shape;14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4721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7109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9496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0459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 title="sales_by_stor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21200" y="1248600"/>
            <a:ext cx="5637023" cy="2482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 title="single_item_sales_FOODS_3_09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6263" y="3913700"/>
            <a:ext cx="9133875" cy="276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037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>
            <a:off x="916800" y="1313050"/>
            <a:ext cx="54879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Demand Volatility: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High product variety (30,490 SKUs) leading to "zero-inflated" or intermittent demand patterns.</a:t>
            </a:r>
            <a:endParaRPr sz="1700"/>
          </a:p>
        </p:txBody>
      </p:sp>
      <p:sp>
        <p:nvSpPr>
          <p:cNvPr id="152" name="Google Shape;152;p19"/>
          <p:cNvSpPr txBox="1"/>
          <p:nvPr/>
        </p:nvSpPr>
        <p:spPr>
          <a:xfrm>
            <a:off x="916800" y="2607759"/>
            <a:ext cx="54879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Bullwhip Effect: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Small retail demand fluctuations causing amplified variances upstream, leading to waste.</a:t>
            </a:r>
            <a:endParaRPr sz="1700"/>
          </a:p>
        </p:txBody>
      </p:sp>
      <p:sp>
        <p:nvSpPr>
          <p:cNvPr id="153" name="Google Shape;153;p19"/>
          <p:cNvSpPr txBox="1"/>
          <p:nvPr/>
        </p:nvSpPr>
        <p:spPr>
          <a:xfrm>
            <a:off x="916800" y="3902468"/>
            <a:ext cx="54879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Financial Imbalance:</a:t>
            </a:r>
            <a:r>
              <a:rPr b="0" i="0" lang="en-US" sz="17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constant trade-off between excessive holding costs and the risk of costly stockouts.</a:t>
            </a:r>
            <a:endParaRPr sz="1800"/>
          </a:p>
        </p:txBody>
      </p:sp>
      <p:sp>
        <p:nvSpPr>
          <p:cNvPr id="154" name="Google Shape;154;p19"/>
          <p:cNvSpPr txBox="1"/>
          <p:nvPr/>
        </p:nvSpPr>
        <p:spPr>
          <a:xfrm>
            <a:off x="916800" y="5197176"/>
            <a:ext cx="54879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Modeling Gap: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Traditional statistical methods struggle with exogenous variables like price changes and SNAP holidays.</a:t>
            </a:r>
            <a:endParaRPr sz="1700"/>
          </a:p>
        </p:txBody>
      </p:sp>
      <p:pic>
        <p:nvPicPr>
          <p:cNvPr descr="image.png" id="155" name="Google Shape;15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800" y="131304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800" y="26077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800" y="52499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800" y="390247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762000" y="571500"/>
            <a:ext cx="1140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Supply Chain Challenges</a:t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571500" y="571500"/>
            <a:ext cx="57300" cy="523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1" name="Google Shape;16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29500" y="2116205"/>
            <a:ext cx="5334000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70993"/>
            <a:ext cx="533400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470993"/>
            <a:ext cx="5334000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/>
        </p:nvSpPr>
        <p:spPr>
          <a:xfrm>
            <a:off x="571500" y="903535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Methodology: The Dual-Track System</a:t>
            </a:r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571500" y="1494085"/>
            <a:ext cx="110490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952500" y="3023443"/>
            <a:ext cx="490061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Track A: Python Full-Scale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952500" y="3556843"/>
            <a:ext cx="4667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Processing the entire hierarchy using</a:t>
            </a: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high-performance libraries.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6667500" y="3023443"/>
            <a:ext cx="490061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Track B: Classical IE Baseline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6667500" y="3556843"/>
            <a:ext cx="4667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Analyzing a stratified sample of SKUs (CA_1 Store Pilot).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1266825" y="4318843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1333500" y="4318843"/>
            <a:ext cx="4286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LightGBM (Gradient Boosting)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1266825" y="4604593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1333500" y="4604593"/>
            <a:ext cx="4286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PyTorch (LSTM Architectures)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1266825" y="4890343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1333500" y="4890343"/>
            <a:ext cx="4286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Exogenous Covariates (Price, Holidays)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6981825" y="4318843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7048500" y="4318843"/>
            <a:ext cx="4286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Manual ARIMA (Box-Jenkins)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6981825" y="4604593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7048500" y="4604593"/>
            <a:ext cx="4286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Holt-Winters Triple Smoothing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6981825" y="4890343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7048500" y="4890343"/>
            <a:ext cx="4286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Naive &amp; Moving Average baselines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56743"/>
            <a:ext cx="5334000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571500" y="903535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Big Data Strategy: Polars ETL</a:t>
            </a:r>
            <a:endParaRPr/>
          </a:p>
        </p:txBody>
      </p:sp>
      <p:sp>
        <p:nvSpPr>
          <p:cNvPr id="194" name="Google Shape;194;p21"/>
          <p:cNvSpPr/>
          <p:nvPr/>
        </p:nvSpPr>
        <p:spPr>
          <a:xfrm>
            <a:off x="571500" y="1494085"/>
            <a:ext cx="110490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5" name="Google Shape;19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2775793"/>
            <a:ext cx="5295900" cy="253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6286500" y="3023443"/>
            <a:ext cx="5600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Memory-Efficient Pipelines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6286500" y="3556843"/>
            <a:ext cx="5334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Traditional tools (Pandas) fail</a:t>
            </a: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at 50M rows. Our Polars framework ensures: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6600825" y="4318843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6667500" y="4318843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Lazy Evaluation &amp; Query Optimization.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6600825" y="4604593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6667500" y="4604593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Schema Enforcement for Parquet files.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6600825" y="4890343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6667500" y="4890343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Sub-second Feature Engineering (Lags, Rolling Means).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358330"/>
            <a:ext cx="5334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 txBox="1"/>
          <p:nvPr/>
        </p:nvSpPr>
        <p:spPr>
          <a:xfrm>
            <a:off x="571500" y="88761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Model Mechanic: LightGBM</a:t>
            </a: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571500" y="1459110"/>
            <a:ext cx="11049000" cy="19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571500" y="2625030"/>
            <a:ext cx="560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Leaf-wise Decision Trees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885825" y="3120330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952500" y="3120330"/>
            <a:ext cx="4953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Leaf-wise Growth: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Splitting based on max loss reduction; superior for Walmart's scale.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885825" y="3691830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952500" y="3691830"/>
            <a:ext cx="4953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Regression Objective: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Optimized using Mean Squared Error (MSE) for the target sales column.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885825" y="4263330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952500" y="4263330"/>
            <a:ext cx="4953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EFB: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Exclusive Feature Bundling reduces the high-dimensional SKU categorical space.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885825" y="4834830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952500" y="4834830"/>
            <a:ext cx="4953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Histogram Binning: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Discretizes continuous prices to accelerate training.</a:t>
            </a:r>
            <a:endParaRPr/>
          </a:p>
        </p:txBody>
      </p:sp>
      <p:pic>
        <p:nvPicPr>
          <p:cNvPr descr="image.png" id="221" name="Google Shape;22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5550" y="2377380"/>
            <a:ext cx="5295900" cy="32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358330"/>
            <a:ext cx="5334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571500" y="88761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Model Mechanic: LSTM</a:t>
            </a:r>
            <a:endParaRPr/>
          </a:p>
        </p:txBody>
      </p:sp>
      <p:sp>
        <p:nvSpPr>
          <p:cNvPr id="229" name="Google Shape;229;p23"/>
          <p:cNvSpPr/>
          <p:nvPr/>
        </p:nvSpPr>
        <p:spPr>
          <a:xfrm>
            <a:off x="571500" y="1459110"/>
            <a:ext cx="11049000" cy="19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571500" y="2625030"/>
            <a:ext cx="560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Neural Sequence Modeling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885825" y="3120330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952500" y="3120330"/>
            <a:ext cx="4953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Gating Logic: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Uses Forget, Input, and Output gates to maintain long-term memory.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885825" y="3691830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952500" y="3691830"/>
            <a:ext cx="4953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Global Approach: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 single network learns shared patterns across all 30k products.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885825" y="4263330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952500" y="4263330"/>
            <a:ext cx="4953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Embeddings: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Learns high-dimensional representations of Store and Item IDs.</a:t>
            </a:r>
            <a:endParaRPr/>
          </a:p>
        </p:txBody>
      </p:sp>
      <p:pic>
        <p:nvPicPr>
          <p:cNvPr descr="image.png" id="237" name="Google Shape;23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5550" y="2377380"/>
            <a:ext cx="5295900" cy="32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"/>
            <a:ext cx="12192000" cy="68580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57462"/>
            <a:ext cx="3524250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557462"/>
            <a:ext cx="3524250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2557462"/>
            <a:ext cx="352425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 txBox="1"/>
          <p:nvPr/>
        </p:nvSpPr>
        <p:spPr>
          <a:xfrm>
            <a:off x="819150" y="3405187"/>
            <a:ext cx="318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Classical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819150" y="3948112"/>
            <a:ext cx="3029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ARIMA, Holt-Winters, and Smoothing. Robust for stable cycles but limited by univariate history.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4581525" y="3405187"/>
            <a:ext cx="318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Machine Learning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4581525" y="3948112"/>
            <a:ext cx="3029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LightGBM and XGBoost. Superior at mapping prices, SNAP events, and calendar covariates.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8343900" y="3405187"/>
            <a:ext cx="318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Deep Learning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8343900" y="3948112"/>
            <a:ext cx="3029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PyTorch LSTM and Transformers. High capacity for global patterns across millions of rows.</a:t>
            </a:r>
            <a:endParaRPr/>
          </a:p>
        </p:txBody>
      </p:sp>
      <p:pic>
        <p:nvPicPr>
          <p:cNvPr descr="image.png" id="252" name="Google Shape;252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284321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81525" y="284321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43900" y="28432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762000" y="571500"/>
            <a:ext cx="1140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Forecasting Paradigms</a:t>
            </a:r>
            <a:endParaRPr/>
          </a:p>
        </p:txBody>
      </p:sp>
      <p:sp>
        <p:nvSpPr>
          <p:cNvPr id="256" name="Google Shape;256;p24"/>
          <p:cNvSpPr/>
          <p:nvPr/>
        </p:nvSpPr>
        <p:spPr>
          <a:xfrm>
            <a:off x="571500" y="571500"/>
            <a:ext cx="57300" cy="523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63910"/>
            <a:ext cx="11049000" cy="3170039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571500" y="88761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Methodology: Pilot Study Design</a:t>
            </a:r>
            <a:endParaRPr/>
          </a:p>
        </p:txBody>
      </p:sp>
      <p:sp>
        <p:nvSpPr>
          <p:cNvPr id="264" name="Google Shape;264;p25"/>
          <p:cNvSpPr/>
          <p:nvPr/>
        </p:nvSpPr>
        <p:spPr>
          <a:xfrm>
            <a:off x="571500" y="1459110"/>
            <a:ext cx="11049000" cy="19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 txBox="1"/>
          <p:nvPr/>
        </p:nvSpPr>
        <p:spPr>
          <a:xfrm>
            <a:off x="952500" y="2383035"/>
            <a:ext cx="10287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Pilot Focus: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Store California 1 (CA_1)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952500" y="2859285"/>
            <a:ext cx="10287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Dataset Sample: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3,049 items with 5 years of daily history.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952500" y="3335535"/>
            <a:ext cx="10287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Logic: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Algorithm selection through controlled benchmarking on high-variance retail environments.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571500" y="5276850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Benchmarked 10 distinct algorithm configurations.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571500" y="5705475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19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Aggregated results across all SKUs for statistically significant selection.</a:t>
            </a:r>
            <a:endParaRPr/>
          </a:p>
        </p:txBody>
      </p:sp>
      <p:pic>
        <p:nvPicPr>
          <p:cNvPr descr="image.png" id="270" name="Google Shape;27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3197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748337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98885"/>
            <a:ext cx="11049000" cy="4487614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6"/>
          <p:cNvSpPr txBox="1"/>
          <p:nvPr/>
        </p:nvSpPr>
        <p:spPr>
          <a:xfrm>
            <a:off x="571500" y="903535"/>
            <a:ext cx="11601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Forecast </a:t>
            </a: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Accuracy Results (CA_1 Pilot)</a:t>
            </a:r>
            <a:endParaRPr/>
          </a:p>
        </p:txBody>
      </p:sp>
      <p:sp>
        <p:nvSpPr>
          <p:cNvPr id="279" name="Google Shape;279;p26"/>
          <p:cNvSpPr/>
          <p:nvPr/>
        </p:nvSpPr>
        <p:spPr>
          <a:xfrm>
            <a:off x="571500" y="1494085"/>
            <a:ext cx="110490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6"/>
          <p:cNvSpPr txBox="1"/>
          <p:nvPr/>
        </p:nvSpPr>
        <p:spPr>
          <a:xfrm>
            <a:off x="571500" y="501893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Average RMSE across 3,049 items in Store CA_1. Lower is better.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5" name="Google Shape;28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7"/>
          <p:cNvSpPr txBox="1"/>
          <p:nvPr/>
        </p:nvSpPr>
        <p:spPr>
          <a:xfrm>
            <a:off x="571500" y="903535"/>
            <a:ext cx="52006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"Sparsity Penalty"</a:t>
            </a:r>
            <a:endParaRPr/>
          </a:p>
        </p:txBody>
      </p:sp>
      <p:sp>
        <p:nvSpPr>
          <p:cNvPr id="287" name="Google Shape;287;p27"/>
          <p:cNvSpPr/>
          <p:nvPr/>
        </p:nvSpPr>
        <p:spPr>
          <a:xfrm>
            <a:off x="571500" y="1494085"/>
            <a:ext cx="49530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7"/>
          <p:cNvSpPr txBox="1"/>
          <p:nvPr/>
        </p:nvSpPr>
        <p:spPr>
          <a:xfrm>
            <a:off x="571500" y="2065585"/>
            <a:ext cx="5200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Why LSTM Underperformed</a:t>
            </a:r>
            <a:endParaRPr/>
          </a:p>
        </p:txBody>
      </p:sp>
      <p:sp>
        <p:nvSpPr>
          <p:cNvPr id="289" name="Google Shape;289;p27"/>
          <p:cNvSpPr txBox="1"/>
          <p:nvPr/>
        </p:nvSpPr>
        <p:spPr>
          <a:xfrm>
            <a:off x="571500" y="2741860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On zero-sales days, LSTM predicts a "safe mean" (e.g., 0.3 units) instead of a true zero.</a:t>
            </a:r>
            <a:endParaRPr/>
          </a:p>
        </p:txBody>
      </p:sp>
      <p:sp>
        <p:nvSpPr>
          <p:cNvPr id="290" name="Google Shape;290;p27"/>
          <p:cNvSpPr txBox="1"/>
          <p:nvPr/>
        </p:nvSpPr>
        <p:spPr>
          <a:xfrm>
            <a:off x="571500" y="3694360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Operational Friction: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Fractional forecasts trigger unnecessary reorders, exploding holding costs in sparse retail environments.</a:t>
            </a:r>
            <a:endParaRPr/>
          </a:p>
        </p:txBody>
      </p:sp>
      <p:sp>
        <p:nvSpPr>
          <p:cNvPr id="291" name="Google Shape;291;p27"/>
          <p:cNvSpPr txBox="1"/>
          <p:nvPr/>
        </p:nvSpPr>
        <p:spPr>
          <a:xfrm>
            <a:off x="571500" y="4932610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LightGBM's tree-splits handled zero-inflation significantly better.</a:t>
            </a:r>
            <a:endParaRPr/>
          </a:p>
        </p:txBody>
      </p:sp>
      <p:pic>
        <p:nvPicPr>
          <p:cNvPr id="292" name="Google Shape;29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8083" y="2279450"/>
            <a:ext cx="5975890" cy="2821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7" name="Google Shape;29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32868"/>
            <a:ext cx="11049000" cy="97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571500" y="903535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Inventory Optimization Framework</a:t>
            </a:r>
            <a:endParaRPr/>
          </a:p>
        </p:txBody>
      </p:sp>
      <p:sp>
        <p:nvSpPr>
          <p:cNvPr id="300" name="Google Shape;300;p28"/>
          <p:cNvSpPr/>
          <p:nvPr/>
        </p:nvSpPr>
        <p:spPr>
          <a:xfrm>
            <a:off x="571500" y="1494085"/>
            <a:ext cx="110490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1" name="Google Shape;301;p28"/>
          <p:cNvGraphicFramePr/>
          <p:nvPr/>
        </p:nvGraphicFramePr>
        <p:xfrm>
          <a:off x="571500" y="33949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{78FC669A-3369-4993-A902-9FE97FF51267}</a:tableStyleId>
              </a:tblPr>
              <a:tblGrid>
                <a:gridCol w="3183575"/>
                <a:gridCol w="1872700"/>
                <a:gridCol w="5992725"/>
              </a:tblGrid>
              <a:tr h="49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Simulation Parameter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Value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Description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49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Target Service Level (α)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Probability of meeting demand during lead time.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Lead Time (L)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Assumption for replenishment cycle.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Holding Cost (H)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$1.00 / unit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Cost to store inventory per period.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Stockout Cost (P)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$10.00 / unit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Lost margin and penalty for unmet demand.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302" name="Google Shape;302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1572" y="2575024"/>
            <a:ext cx="2748855" cy="318343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8"/>
          <p:cNvSpPr/>
          <p:nvPr/>
        </p:nvSpPr>
        <p:spPr>
          <a:xfrm>
            <a:off x="571500" y="4352180"/>
            <a:ext cx="318358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8"/>
          <p:cNvSpPr/>
          <p:nvPr/>
        </p:nvSpPr>
        <p:spPr>
          <a:xfrm>
            <a:off x="3755082" y="4352180"/>
            <a:ext cx="187270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8"/>
          <p:cNvSpPr/>
          <p:nvPr/>
        </p:nvSpPr>
        <p:spPr>
          <a:xfrm>
            <a:off x="5627786" y="4352180"/>
            <a:ext cx="599271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8"/>
          <p:cNvSpPr/>
          <p:nvPr/>
        </p:nvSpPr>
        <p:spPr>
          <a:xfrm>
            <a:off x="571500" y="4847480"/>
            <a:ext cx="318358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8"/>
          <p:cNvSpPr/>
          <p:nvPr/>
        </p:nvSpPr>
        <p:spPr>
          <a:xfrm>
            <a:off x="3755082" y="4847480"/>
            <a:ext cx="187270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8"/>
          <p:cNvSpPr/>
          <p:nvPr/>
        </p:nvSpPr>
        <p:spPr>
          <a:xfrm>
            <a:off x="5627786" y="4847480"/>
            <a:ext cx="599271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8"/>
          <p:cNvSpPr/>
          <p:nvPr/>
        </p:nvSpPr>
        <p:spPr>
          <a:xfrm>
            <a:off x="571500" y="5342780"/>
            <a:ext cx="318358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8"/>
          <p:cNvSpPr/>
          <p:nvPr/>
        </p:nvSpPr>
        <p:spPr>
          <a:xfrm>
            <a:off x="3755082" y="5342780"/>
            <a:ext cx="187270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8"/>
          <p:cNvSpPr/>
          <p:nvPr/>
        </p:nvSpPr>
        <p:spPr>
          <a:xfrm>
            <a:off x="5627786" y="5342780"/>
            <a:ext cx="599271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8"/>
          <p:cNvSpPr/>
          <p:nvPr/>
        </p:nvSpPr>
        <p:spPr>
          <a:xfrm>
            <a:off x="571500" y="5838080"/>
            <a:ext cx="318358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8"/>
          <p:cNvSpPr/>
          <p:nvPr/>
        </p:nvSpPr>
        <p:spPr>
          <a:xfrm>
            <a:off x="3755082" y="5838080"/>
            <a:ext cx="187270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8"/>
          <p:cNvSpPr/>
          <p:nvPr/>
        </p:nvSpPr>
        <p:spPr>
          <a:xfrm>
            <a:off x="5627786" y="5838080"/>
            <a:ext cx="599271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9" name="Google Shape;31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98885"/>
            <a:ext cx="11049000" cy="44876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328368"/>
            <a:ext cx="11049000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9"/>
          <p:cNvSpPr txBox="1"/>
          <p:nvPr/>
        </p:nvSpPr>
        <p:spPr>
          <a:xfrm>
            <a:off x="571500" y="903535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Financial Impact: Simulated Savings</a:t>
            </a:r>
            <a:endParaRPr/>
          </a:p>
        </p:txBody>
      </p:sp>
      <p:sp>
        <p:nvSpPr>
          <p:cNvPr id="323" name="Google Shape;323;p29"/>
          <p:cNvSpPr/>
          <p:nvPr/>
        </p:nvSpPr>
        <p:spPr>
          <a:xfrm>
            <a:off x="571500" y="1494085"/>
            <a:ext cx="110490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9"/>
          <p:cNvSpPr txBox="1"/>
          <p:nvPr/>
        </p:nvSpPr>
        <p:spPr>
          <a:xfrm>
            <a:off x="515302" y="4537918"/>
            <a:ext cx="1116139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Total Estimated Annual Savings: $125,190</a:t>
            </a:r>
            <a:endParaRPr/>
          </a:p>
        </p:txBody>
      </p:sp>
      <p:sp>
        <p:nvSpPr>
          <p:cNvPr id="325" name="Google Shape;325;p29"/>
          <p:cNvSpPr txBox="1"/>
          <p:nvPr/>
        </p:nvSpPr>
        <p:spPr>
          <a:xfrm>
            <a:off x="781050" y="4928443"/>
            <a:ext cx="106299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Achieved through 19.5% Logistics Cost reduction via ML-driven accuracy.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0" name="Google Shape;33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0"/>
          <p:cNvSpPr txBox="1"/>
          <p:nvPr/>
        </p:nvSpPr>
        <p:spPr>
          <a:xfrm>
            <a:off x="571500" y="903535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Managerial Recommendations</a:t>
            </a:r>
            <a:endParaRPr/>
          </a:p>
        </p:txBody>
      </p:sp>
      <p:sp>
        <p:nvSpPr>
          <p:cNvPr id="332" name="Google Shape;332;p30"/>
          <p:cNvSpPr/>
          <p:nvPr/>
        </p:nvSpPr>
        <p:spPr>
          <a:xfrm>
            <a:off x="571500" y="1494085"/>
            <a:ext cx="110490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0"/>
          <p:cNvSpPr txBox="1"/>
          <p:nvPr/>
        </p:nvSpPr>
        <p:spPr>
          <a:xfrm>
            <a:off x="1047750" y="2899618"/>
            <a:ext cx="10572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Algorithm Choice: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Use LightGBM/GBDT for sparse retail SKUs; LSTM requires significant "zero-handling" tuning to be viable.</a:t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1047750" y="3756868"/>
            <a:ext cx="10572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Tooling ROI: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Polars is essential for IE systems involving big data (50M+ rows) to avoid hardware bottlenecks.</a:t>
            </a:r>
            <a:endParaRPr/>
          </a:p>
        </p:txBody>
      </p:sp>
      <p:sp>
        <p:nvSpPr>
          <p:cNvPr id="335" name="Google Shape;335;p30"/>
          <p:cNvSpPr txBox="1"/>
          <p:nvPr/>
        </p:nvSpPr>
        <p:spPr>
          <a:xfrm>
            <a:off x="1047750" y="4328368"/>
            <a:ext cx="10572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Decision Support: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IE focus should shift from minimizing RMSE to minimizing Total Logistics Cost to align with business KPIs.</a:t>
            </a:r>
            <a:endParaRPr/>
          </a:p>
        </p:txBody>
      </p:sp>
      <p:pic>
        <p:nvPicPr>
          <p:cNvPr descr="image.png" id="336" name="Google Shape;33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42480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99730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71230"/>
            <a:ext cx="333375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3" name="Google Shape;34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"/>
            <a:ext cx="12192000" cy="68580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4" name="Google Shape;34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57462"/>
            <a:ext cx="3524250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557462"/>
            <a:ext cx="352425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1"/>
          <p:cNvSpPr txBox="1"/>
          <p:nvPr/>
        </p:nvSpPr>
        <p:spPr>
          <a:xfrm>
            <a:off x="819150" y="3405187"/>
            <a:ext cx="318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Waste Reduction</a:t>
            </a:r>
            <a:endParaRPr/>
          </a:p>
        </p:txBody>
      </p:sp>
      <p:sp>
        <p:nvSpPr>
          <p:cNvPr id="347" name="Google Shape;347;p31"/>
          <p:cNvSpPr txBox="1"/>
          <p:nvPr/>
        </p:nvSpPr>
        <p:spPr>
          <a:xfrm>
            <a:off x="819150" y="3948112"/>
            <a:ext cx="3029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Higher accuracy in </a:t>
            </a:r>
            <a:r>
              <a:rPr b="1" lang="en-US" sz="1500">
                <a:solidFill>
                  <a:schemeClr val="dk1"/>
                </a:solidFill>
              </a:rPr>
              <a:t>FOODS</a:t>
            </a:r>
            <a:r>
              <a:rPr lang="en-US" sz="1500">
                <a:solidFill>
                  <a:schemeClr val="dk1"/>
                </a:solidFill>
              </a:rPr>
              <a:t> reduces spoilage and physical waste of expired items.</a:t>
            </a:r>
            <a:endParaRPr sz="1800"/>
          </a:p>
        </p:txBody>
      </p:sp>
      <p:sp>
        <p:nvSpPr>
          <p:cNvPr id="348" name="Google Shape;348;p31"/>
          <p:cNvSpPr txBox="1"/>
          <p:nvPr/>
        </p:nvSpPr>
        <p:spPr>
          <a:xfrm>
            <a:off x="4581525" y="3405187"/>
            <a:ext cx="318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Emissions</a:t>
            </a:r>
            <a:endParaRPr/>
          </a:p>
        </p:txBody>
      </p:sp>
      <p:sp>
        <p:nvSpPr>
          <p:cNvPr id="349" name="Google Shape;349;p31"/>
          <p:cNvSpPr txBox="1"/>
          <p:nvPr/>
        </p:nvSpPr>
        <p:spPr>
          <a:xfrm>
            <a:off x="4581525" y="3948112"/>
            <a:ext cx="3029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475569"/>
                </a:solidFill>
              </a:rPr>
              <a:t>Minimizing "Rush Shipments" allows for high-efficiency scheduled logistics routing.a</a:t>
            </a:r>
            <a:endParaRPr sz="1600"/>
          </a:p>
        </p:txBody>
      </p:sp>
      <p:pic>
        <p:nvPicPr>
          <p:cNvPr descr="image.png" id="350" name="Google Shape;350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284321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81525" y="284321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1"/>
          <p:cNvSpPr txBox="1"/>
          <p:nvPr/>
        </p:nvSpPr>
        <p:spPr>
          <a:xfrm>
            <a:off x="762000" y="571500"/>
            <a:ext cx="1140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SzPts val="1100"/>
              <a:buNone/>
            </a:pPr>
            <a:r>
              <a:rPr b="1" lang="en-US" sz="2800">
                <a:solidFill>
                  <a:schemeClr val="dk1"/>
                </a:solidFill>
              </a:rPr>
              <a:t>Sustainability &amp; ESG Impact</a:t>
            </a:r>
            <a:endParaRPr b="1" sz="2800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3" name="Google Shape;353;p31"/>
          <p:cNvSpPr/>
          <p:nvPr/>
        </p:nvSpPr>
        <p:spPr>
          <a:xfrm>
            <a:off x="571500" y="571500"/>
            <a:ext cx="57300" cy="523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4" name="Google Shape;354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96250" y="2557462"/>
            <a:ext cx="352425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 txBox="1"/>
          <p:nvPr/>
        </p:nvSpPr>
        <p:spPr>
          <a:xfrm>
            <a:off x="9032925" y="2843200"/>
            <a:ext cx="1650900" cy="554100"/>
          </a:xfrm>
          <a:prstGeom prst="rect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-19.5%</a:t>
            </a:r>
            <a:endParaRPr sz="3600"/>
          </a:p>
        </p:txBody>
      </p:sp>
      <p:sp>
        <p:nvSpPr>
          <p:cNvPr id="356" name="Google Shape;356;p31"/>
          <p:cNvSpPr txBox="1"/>
          <p:nvPr/>
        </p:nvSpPr>
        <p:spPr>
          <a:xfrm>
            <a:off x="8343900" y="3728275"/>
            <a:ext cx="31179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Lower Warehouse Energy Footprint (HVAC/Lighting) via reduced inventory levels.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1" name="Google Shape;36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2"/>
          <p:cNvSpPr txBox="1"/>
          <p:nvPr/>
        </p:nvSpPr>
        <p:spPr>
          <a:xfrm>
            <a:off x="571500" y="88761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Roadmap to IE 4198</a:t>
            </a:r>
            <a:endParaRPr/>
          </a:p>
        </p:txBody>
      </p:sp>
      <p:sp>
        <p:nvSpPr>
          <p:cNvPr id="363" name="Google Shape;363;p32"/>
          <p:cNvSpPr/>
          <p:nvPr/>
        </p:nvSpPr>
        <p:spPr>
          <a:xfrm>
            <a:off x="571500" y="1459110"/>
            <a:ext cx="11049000" cy="19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2"/>
          <p:cNvSpPr txBox="1"/>
          <p:nvPr/>
        </p:nvSpPr>
        <p:spPr>
          <a:xfrm>
            <a:off x="571500" y="3239392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14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Recursive Inference: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Developing Day-by-Day lag updates to prevent data leakage in 28-day horizons.</a:t>
            </a:r>
            <a:endParaRPr/>
          </a:p>
        </p:txBody>
      </p:sp>
      <p:sp>
        <p:nvSpPr>
          <p:cNvPr id="365" name="Google Shape;365;p32"/>
          <p:cNvSpPr txBox="1"/>
          <p:nvPr/>
        </p:nvSpPr>
        <p:spPr>
          <a:xfrm>
            <a:off x="571500" y="3763267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14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Global Scaling: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Training the LightGBM champion on all 10 Walmart stores (30,490 SKUs).</a:t>
            </a:r>
            <a:endParaRPr/>
          </a:p>
        </p:txBody>
      </p:sp>
      <p:sp>
        <p:nvSpPr>
          <p:cNvPr id="366" name="Google Shape;366;p32"/>
          <p:cNvSpPr txBox="1"/>
          <p:nvPr/>
        </p:nvSpPr>
        <p:spPr>
          <a:xfrm>
            <a:off x="571500" y="4673517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29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Dashboard Deployment: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Finalizing the Next.js DSS for real-time inventory sensitivity analysis.</a:t>
            </a:r>
            <a:endParaRPr/>
          </a:p>
        </p:txBody>
      </p:sp>
      <p:pic>
        <p:nvPicPr>
          <p:cNvPr descr="image.png" id="367" name="Google Shape;36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3939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8" name="Google Shape;368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6326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9" name="Google Shape;369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56892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2"/>
          <p:cNvSpPr txBox="1"/>
          <p:nvPr/>
        </p:nvSpPr>
        <p:spPr>
          <a:xfrm>
            <a:off x="571543" y="4210083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14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Horizontal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Scaling: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Training </a:t>
            </a: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other complex algorithms like DeepAR to test it against others.</a:t>
            </a:r>
            <a:endParaRPr/>
          </a:p>
        </p:txBody>
      </p:sp>
      <p:pic>
        <p:nvPicPr>
          <p:cNvPr descr="image.png" id="371" name="Google Shape;371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1008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2"/>
          <p:cNvSpPr txBox="1"/>
          <p:nvPr/>
        </p:nvSpPr>
        <p:spPr>
          <a:xfrm>
            <a:off x="571500" y="2728680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14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Inventory Simulation</a:t>
            </a: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Run </a:t>
            </a: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inventory simulation and optimize the results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pic>
        <p:nvPicPr>
          <p:cNvPr descr="image.png" id="373" name="Google Shape;373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213" y="272035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8" name="Google Shape;37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3"/>
          <p:cNvSpPr txBox="1"/>
          <p:nvPr/>
        </p:nvSpPr>
        <p:spPr>
          <a:xfrm>
            <a:off x="571500" y="903535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380" name="Google Shape;380;p33"/>
          <p:cNvSpPr/>
          <p:nvPr/>
        </p:nvSpPr>
        <p:spPr>
          <a:xfrm>
            <a:off x="571500" y="1494085"/>
            <a:ext cx="110490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3"/>
          <p:cNvSpPr/>
          <p:nvPr/>
        </p:nvSpPr>
        <p:spPr>
          <a:xfrm>
            <a:off x="571500" y="241860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3"/>
          <p:cNvSpPr/>
          <p:nvPr/>
        </p:nvSpPr>
        <p:spPr>
          <a:xfrm>
            <a:off x="571500" y="319013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3"/>
          <p:cNvSpPr/>
          <p:nvPr/>
        </p:nvSpPr>
        <p:spPr>
          <a:xfrm>
            <a:off x="571500" y="396165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3"/>
          <p:cNvSpPr/>
          <p:nvPr/>
        </p:nvSpPr>
        <p:spPr>
          <a:xfrm>
            <a:off x="571500" y="318060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3"/>
          <p:cNvSpPr/>
          <p:nvPr/>
        </p:nvSpPr>
        <p:spPr>
          <a:xfrm>
            <a:off x="571500" y="318060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3"/>
          <p:cNvSpPr/>
          <p:nvPr/>
        </p:nvSpPr>
        <p:spPr>
          <a:xfrm>
            <a:off x="571500" y="395213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3"/>
          <p:cNvSpPr/>
          <p:nvPr/>
        </p:nvSpPr>
        <p:spPr>
          <a:xfrm>
            <a:off x="571500" y="395213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3"/>
          <p:cNvSpPr/>
          <p:nvPr/>
        </p:nvSpPr>
        <p:spPr>
          <a:xfrm>
            <a:off x="571500" y="472365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3"/>
          <p:cNvSpPr/>
          <p:nvPr/>
        </p:nvSpPr>
        <p:spPr>
          <a:xfrm>
            <a:off x="571500" y="472365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90" name="Google Shape;39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6148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33"/>
          <p:cNvSpPr txBox="1"/>
          <p:nvPr/>
        </p:nvSpPr>
        <p:spPr>
          <a:xfrm>
            <a:off x="1666875" y="2568624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https://www.crwflags.com/fotw/images/t/tr_marm2.gif</a:t>
            </a:r>
            <a:endParaRPr/>
          </a:p>
        </p:txBody>
      </p:sp>
      <p:sp>
        <p:nvSpPr>
          <p:cNvPr id="392" name="Google Shape;392;p33"/>
          <p:cNvSpPr txBox="1"/>
          <p:nvPr/>
        </p:nvSpPr>
        <p:spPr>
          <a:xfrm>
            <a:off x="1666875" y="2801987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www.crwflags.com</a:t>
            </a:r>
            <a:endParaRPr/>
          </a:p>
        </p:txBody>
      </p:sp>
      <p:pic>
        <p:nvPicPr>
          <p:cNvPr descr="image.png" id="393" name="Google Shape;393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0453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3"/>
          <p:cNvSpPr txBox="1"/>
          <p:nvPr/>
        </p:nvSpPr>
        <p:spPr>
          <a:xfrm>
            <a:off x="1666875" y="4111674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https://careers.dwp.gov.uk/wp-content/uploads/2022/01/Banner-data-engineer-1.jpg?x67701</a:t>
            </a:r>
            <a:endParaRPr/>
          </a:p>
        </p:txBody>
      </p:sp>
      <p:sp>
        <p:nvSpPr>
          <p:cNvPr id="395" name="Google Shape;395;p33"/>
          <p:cNvSpPr txBox="1"/>
          <p:nvPr/>
        </p:nvSpPr>
        <p:spPr>
          <a:xfrm>
            <a:off x="1666875" y="4345037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careers.dwp.gov.uk</a:t>
            </a:r>
            <a:endParaRPr/>
          </a:p>
        </p:txBody>
      </p:sp>
      <p:sp>
        <p:nvSpPr>
          <p:cNvPr id="396" name="Google Shape;396;p33"/>
          <p:cNvSpPr txBox="1"/>
          <p:nvPr/>
        </p:nvSpPr>
        <p:spPr>
          <a:xfrm>
            <a:off x="1666875" y="4876055"/>
            <a:ext cx="9953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3"/>
          <p:cNvSpPr/>
          <p:nvPr/>
        </p:nvSpPr>
        <p:spPr>
          <a:xfrm>
            <a:off x="571450" y="4723655"/>
            <a:ext cx="110490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98" name="Google Shape;398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450" y="486653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33"/>
          <p:cNvSpPr txBox="1"/>
          <p:nvPr/>
        </p:nvSpPr>
        <p:spPr>
          <a:xfrm>
            <a:off x="1666825" y="4873674"/>
            <a:ext cx="99537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https://lightgbm.readthedocs.io/en/latest/_images/leaf-wise.png</a:t>
            </a:r>
            <a:endParaRPr/>
          </a:p>
        </p:txBody>
      </p:sp>
      <p:sp>
        <p:nvSpPr>
          <p:cNvPr id="400" name="Google Shape;400;p33"/>
          <p:cNvSpPr txBox="1"/>
          <p:nvPr/>
        </p:nvSpPr>
        <p:spPr>
          <a:xfrm>
            <a:off x="1666825" y="5107036"/>
            <a:ext cx="99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lightgbm.readthedocs.io</a:t>
            </a:r>
            <a:endParaRPr/>
          </a:p>
        </p:txBody>
      </p:sp>
      <p:pic>
        <p:nvPicPr>
          <p:cNvPr descr="image.png" id="401" name="Google Shape;401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450" y="563805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3"/>
          <p:cNvSpPr txBox="1"/>
          <p:nvPr/>
        </p:nvSpPr>
        <p:spPr>
          <a:xfrm>
            <a:off x="1666825" y="5645199"/>
            <a:ext cx="99537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https://pluralsight2.imgix.net/guides/8a8ac7c1-8bac-4e89-ace8-9e28813ab635_3.JPG</a:t>
            </a:r>
            <a:endParaRPr/>
          </a:p>
        </p:txBody>
      </p:sp>
      <p:sp>
        <p:nvSpPr>
          <p:cNvPr id="403" name="Google Shape;403;p33"/>
          <p:cNvSpPr txBox="1"/>
          <p:nvPr/>
        </p:nvSpPr>
        <p:spPr>
          <a:xfrm>
            <a:off x="1666825" y="5878561"/>
            <a:ext cx="99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www.pluralsight.com</a:t>
            </a:r>
            <a:endParaRPr/>
          </a:p>
        </p:txBody>
      </p:sp>
      <p:sp>
        <p:nvSpPr>
          <p:cNvPr id="404" name="Google Shape;404;p33"/>
          <p:cNvSpPr/>
          <p:nvPr/>
        </p:nvSpPr>
        <p:spPr>
          <a:xfrm>
            <a:off x="571463" y="3181755"/>
            <a:ext cx="110490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05" name="Google Shape;405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463" y="332463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33"/>
          <p:cNvSpPr txBox="1"/>
          <p:nvPr/>
        </p:nvSpPr>
        <p:spPr>
          <a:xfrm>
            <a:off x="1666838" y="3331774"/>
            <a:ext cx="99537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https://gosmartlog.com/wp-content/uploads/2017/04/bullwhip-effect.jpg</a:t>
            </a:r>
            <a:endParaRPr/>
          </a:p>
        </p:txBody>
      </p:sp>
      <p:sp>
        <p:nvSpPr>
          <p:cNvPr id="407" name="Google Shape;407;p33"/>
          <p:cNvSpPr txBox="1"/>
          <p:nvPr/>
        </p:nvSpPr>
        <p:spPr>
          <a:xfrm>
            <a:off x="1666838" y="3565136"/>
            <a:ext cx="99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gosmartlog.com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2" name="Google Shape;41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4"/>
          <p:cNvSpPr txBox="1"/>
          <p:nvPr/>
        </p:nvSpPr>
        <p:spPr>
          <a:xfrm>
            <a:off x="571500" y="903535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References</a:t>
            </a:r>
            <a:endParaRPr/>
          </a:p>
        </p:txBody>
      </p:sp>
      <p:sp>
        <p:nvSpPr>
          <p:cNvPr id="414" name="Google Shape;414;p34"/>
          <p:cNvSpPr/>
          <p:nvPr/>
        </p:nvSpPr>
        <p:spPr>
          <a:xfrm>
            <a:off x="571500" y="1494085"/>
            <a:ext cx="11049000" cy="192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4"/>
          <p:cNvSpPr txBox="1"/>
          <p:nvPr/>
        </p:nvSpPr>
        <p:spPr>
          <a:xfrm>
            <a:off x="571500" y="1897768"/>
            <a:ext cx="10572900" cy="42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Hochreiter, S., &amp; Schmidhuber, J. (1997). Long short-term memory. </a:t>
            </a:r>
            <a:r>
              <a:rPr i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Neural computation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(8), 1735-1780.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-"/>
            </a:pPr>
            <a:r>
              <a:rPr lang="en-US" sz="1600">
                <a:solidFill>
                  <a:schemeClr val="dk1"/>
                </a:solidFill>
              </a:rPr>
              <a:t>Makridakis, S., Spiliotis, E., &amp; Assimakopoulos, V. (2018). Statistical and Machine Learning forecasting methods: Concerns and ways forward. </a:t>
            </a:r>
            <a:r>
              <a:rPr i="1" lang="en-US" sz="1600">
                <a:solidFill>
                  <a:schemeClr val="dk1"/>
                </a:solidFill>
              </a:rPr>
              <a:t>PloS one</a:t>
            </a:r>
            <a:r>
              <a:rPr lang="en-US" sz="1600">
                <a:solidFill>
                  <a:schemeClr val="dk1"/>
                </a:solidFill>
              </a:rPr>
              <a:t>, </a:t>
            </a:r>
            <a:r>
              <a:rPr i="1" lang="en-US" sz="1600">
                <a:solidFill>
                  <a:schemeClr val="dk1"/>
                </a:solidFill>
              </a:rPr>
              <a:t>13</a:t>
            </a:r>
            <a:r>
              <a:rPr lang="en-US" sz="1600">
                <a:solidFill>
                  <a:schemeClr val="dk1"/>
                </a:solidFill>
              </a:rPr>
              <a:t>(3), e0194889.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Makridakis, S., Spiliotis, E., &amp; Assimakopoulos, V. (2022). M5 accuracy competition: Results, findings, and conclusions. </a:t>
            </a:r>
            <a:r>
              <a:rPr i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journal of forecasting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38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(4), 1346-1364.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-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Ashish, V. (2017). Attention is all you need. </a:t>
            </a:r>
            <a:r>
              <a:rPr i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Advances in neural information processing systems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-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Syntetos, A. A., Boylan, J. E., &amp; Disney, S. M. (2009). Forecasting for inventory planning: a 50-year review. </a:t>
            </a:r>
            <a:r>
              <a:rPr i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Journal of the Operational Research Society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(sup1), S149-S160.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-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Lee, H. L., Padmanabhan, V., &amp; Whang, S. (1997). The bullwhip effect in supply chains.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-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Ke, G., Meng, Q., Finley, T., Wang, T., Chen, W., Ma, W., ... &amp; Liu, T. Y. (2017). Lightgbm: A highly efficient gradient boosting decision tree. </a:t>
            </a:r>
            <a:r>
              <a:rPr i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Advances in neural information processing systems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-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Theodorou, E., Wang, S., Kang, Y., Spiliotis, E., Makridakis, S., &amp; Assimakopoulos, V. (2022). Exploring the representativeness of the M5 competition data. </a:t>
            </a:r>
            <a:r>
              <a:rPr i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Journal of Forecasting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38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(4), 1500-1506.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-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Benidis, K., Rangapuram, S. S., Flunkert, V., Wang, Y., Maddix, D., Turkmen, C., ... &amp; Januschowski, T. (2022). Deep learning for time series forecasting: Tutorial and literature survey. </a:t>
            </a:r>
            <a:r>
              <a:rPr i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ACM Computing Surveys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55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(6), 1-36.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0" name="Google Shape;42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35"/>
          <p:cNvSpPr txBox="1"/>
          <p:nvPr/>
        </p:nvSpPr>
        <p:spPr>
          <a:xfrm>
            <a:off x="295275" y="2263973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Questions?</a:t>
            </a:r>
            <a:endParaRPr/>
          </a:p>
        </p:txBody>
      </p:sp>
      <p:sp>
        <p:nvSpPr>
          <p:cNvPr id="422" name="Google Shape;422;p35"/>
          <p:cNvSpPr txBox="1"/>
          <p:nvPr/>
        </p:nvSpPr>
        <p:spPr>
          <a:xfrm>
            <a:off x="571500" y="3606998"/>
            <a:ext cx="11049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 Comparative Analysis of Classical and Deep Learning Forecasting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for Supply Chain Inventory Optimization</a:t>
            </a:r>
            <a:endParaRPr/>
          </a:p>
        </p:txBody>
      </p:sp>
      <p:sp>
        <p:nvSpPr>
          <p:cNvPr id="423" name="Google Shape;423;p35"/>
          <p:cNvSpPr txBox="1"/>
          <p:nvPr/>
        </p:nvSpPr>
        <p:spPr>
          <a:xfrm>
            <a:off x="571500" y="4769048"/>
            <a:ext cx="1104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Hakan İspir • Boran Turan • Deniz Yağmur Adaş • Ali Kahya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Marmara University | Industrial Engineering Department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